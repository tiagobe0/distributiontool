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360152" cy="3840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73152" cy="3840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4D8"/>
                </a:solidFill>
              </a:rPr>
              <a:t>DistributionTool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Detección y Clasificación Automática de Defectos
en Materiales Cristalinos por Simulación Molecular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8D6E5"/>
                </a:solidFill>
              </a:rPr>
              <a:t>Pipeline completo · SOAP Descriptors · Clasificación estadística · Detección de vacancias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166"/>
                </a:solidFill>
              </a:rPr>
              <a:t>C++17  ·  Eigen3  ·  OpenMP  ·  LAMMPS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8D6E5"/>
                </a:solidFill>
              </a:rPr>
              <a:t>Investigación en Fusión y Fisión Nuclear · Ciencia de Materiales Computacional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Contenido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0292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71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Motivación y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5029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31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Fundamentos Científicos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0292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91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Pipeline Completo (4 etapas)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60520"/>
            <a:ext cx="502920" cy="5943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51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Descriptores SOAP — Núcleo del Método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50292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7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Clasificación Estadística de Defectos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280160"/>
            <a:ext cx="5029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28016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371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Detección de Vacancias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240280"/>
            <a:ext cx="50292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2402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331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Arquitectura del Software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200400"/>
            <a:ext cx="502920" cy="5943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2918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Configuración y CLI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160520"/>
            <a:ext cx="50292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1605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251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Rendimiento y Escalabilidad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5120640"/>
            <a:ext cx="50292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1206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21207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Flujo de Trabajo en Práctica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Motivación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¿Por qué necesitamos esta herramienta?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5212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</a:rPr>
              <a:t>⚠  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6E5"/>
                </a:solidFill>
              </a:rPr>
              <a:t>Simulaciones de dinámica molecular de impactos de neutrones/iones en materiales cristalinos generan cascadas de colisiones.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Los métodos clásicos fallan a temperaturas elevadas:</a:t>
            </a:r>
          </a:p>
          <a:p>
            <a:pPr algn="l"/>
            <a:r>
              <a:rPr sz="1400" b="0">
                <a:solidFill>
                  <a:srgbClr val="C8D6E5"/>
                </a:solidFill>
              </a:rPr>
              <a:t>  • Celdas de Wigner-Seitz: requieren posiciones de referencia exactas</a:t>
            </a:r>
          </a:p>
          <a:p>
            <a:pPr algn="l"/>
            <a:r>
              <a:rPr sz="1400" b="0">
                <a:solidFill>
                  <a:srgbClr val="C8D6E5"/>
                </a:solidFill>
              </a:rPr>
              <a:t>  • Teselación de Voronoi: sensible al ruido térmico</a:t>
            </a:r>
          </a:p>
          <a:p>
            <a:pPr algn="l"/>
            <a:r>
              <a:rPr sz="1400" b="0">
                <a:solidFill>
                  <a:srgbClr val="C8D6E5"/>
                </a:solidFill>
              </a:rPr>
              <a:t>  • A T &gt; 300 K las vibraciones térmicas enmascaran los defectos reales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FF6B35"/>
                </a:solidFill>
              </a:rPr>
              <a:t>Resultado: detección errónea → estadísticas de defectos incorrectas → predicciones de daño por radiación inexactas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57784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5778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</a:rPr>
              <a:t>✓  La Solución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A0"/>
                </a:solidFill>
              </a:rPr>
              <a:t>Descriptores SOAP (Smooth Overlap of Atomic Positions)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8D6E5"/>
                </a:solidFill>
              </a:rPr>
              <a:t>Invariantes rotacionales del entorno local de cada átomo → robustez frente a ruido térmico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FFD166"/>
                </a:solidFill>
              </a:rPr>
              <a:t>No requiere posiciones de red de referencia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8D6E5"/>
                </a:solidFill>
              </a:rPr>
              <a:t>Modelo probabilístico basado en distribución chi → umbral estadístico fundamentado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8D6E5"/>
                </a:solidFill>
              </a:rPr>
              <a:t>Detección geométrica de vacancias mediante muestreo de grilla uniforme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C8D6E5"/>
                </a:solidFill>
              </a:rPr>
              <a:t>Validación independiente con método Wigner-Seitz opcional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Fundamentos Científicos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Base teórica del método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SOAP Descriptors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6E5"/>
                </a:solidFill>
              </a:rPr>
              <a:t>Bartók et al. (2013)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Power spectrum del solapamiento de densidades atómicas gaussianas. Invariante bajo rotaciones, reflexiones y permutaciones.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57784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57784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984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</a:rPr>
              <a:t>Clasificación χ²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6E5"/>
                </a:solidFill>
              </a:rPr>
              <a:t>Domínguez-Gutiérrez &amp; von Toussaint (2019)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Distancias en el espacio de descriptores siguen una distribución chi. Parámetros ajustados por método de momentos.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557784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557784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587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D6A0"/>
                </a:solidFill>
              </a:rPr>
              <a:t>Flujo FaVaD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6E5"/>
                </a:solidFill>
              </a:rPr>
              <a:t>von Toussaint et al. (2020)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Vacancies and Defects: detección de vacancias sin posiciones de referencia + clustering greedy de puntos vacíos.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749039"/>
            <a:ext cx="557784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49039"/>
            <a:ext cx="557784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587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</a:rPr>
              <a:t>Herramientas de 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6E5"/>
                </a:solidFill>
              </a:rPr>
              <a:t>LAMMPS / OVITO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Archivos dump de entrada; salida analizada compatible con OVITO para visualización 3D interactiva.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Pipeline Completo — Vista General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1945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ETAPA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Lectura
de Entrada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37560"/>
            <a:ext cx="18288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LAMMPS dump
(2 archivos)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651760"/>
            <a:ext cx="411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3492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645920"/>
            <a:ext cx="21945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645920"/>
            <a:ext cx="21945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ETAPA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103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Descriptores
SOAP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337560"/>
            <a:ext cx="18288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</a:rPr>
              <a:t>Vectores de
firma SOAP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651760"/>
            <a:ext cx="411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0972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1645920"/>
            <a:ext cx="21945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1645920"/>
            <a:ext cx="219456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ETAPA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103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Clasificación
de Defectos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337560"/>
            <a:ext cx="18288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Tipo de
defecto por
átomo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651760"/>
            <a:ext cx="411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8452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645920"/>
            <a:ext cx="219456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1645920"/>
            <a:ext cx="2194560" cy="4114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1645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ETAPA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1031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Detección de
Vacancias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3337560"/>
            <a:ext cx="182880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Clusters de
vacancias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63440"/>
            <a:ext cx="1143000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Archivos de Salida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120640"/>
            <a:ext cx="2011680" cy="1097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1663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output.csv
(átomos+defectos)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16352" y="5120640"/>
            <a:ext cx="2011680" cy="1097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62072" y="51663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vacancies_output.csv
(clusters vacancias)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4064" y="5120640"/>
            <a:ext cx="2011680" cy="1097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9783" y="51663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hist_output.csv
(histograma dist.)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51775" y="5120640"/>
            <a:ext cx="2011680" cy="1097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51663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pca_output.csv
(proyección PCA)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19488" y="5120640"/>
            <a:ext cx="2011680" cy="1097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65208" y="516636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166"/>
                </a:solidFill>
              </a:rPr>
              <a:t>analyzed.dump
(OVITO-compatible)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Etapa 1: Lectura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LammpsDumpReader — Parsing de formato LAMMPS dump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12064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1206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Formato LAMMPS Dump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ITEM: TIMESTEP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1000</a:t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ITEM: NUMBER OF ATOMS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10000</a:t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ITEM: BOX BOUNDS pp pp pp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0.0  28.7  0.0  28.7  0.0  28.7</a:t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ITEM: ATOMS id type x y z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1  1  2.145  0.000  0.000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2  1  0.000  2.145  0.000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097280"/>
            <a:ext cx="5943600" cy="53035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097280"/>
            <a:ext cx="59436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097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Módulos Involucrados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002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LammpsDumpReader.h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readNext() → un frame a la vez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readAll()  → todos los frames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AtomData.h — Estructuras de datos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Atom: id, type, x, y, z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     descriptor_vector (SOAP)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     dist_to_ref, defect_type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SimBox: límites + condiciones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       de contorno periódicas (PBC)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Frame: timestep + lista de átomos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Entradas requeridas: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1. Frame de referencia (prístino/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  termalizado al mismo T)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2. Frame irradiado (dañado)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Etapa 2: Descriptores SOAP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Smooth Overlap of Atomic Positions — Núcleo del método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Formulación Matemática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1. Densidad atómica gaussiana: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ρ(r) = Σⱼ exp(-|r - rⱼ|² / 2σ²) · fcut(rⱼ)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2. Expansión en bases: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ρ(r) = Σ_{nlm} c_{nlm} · φₙ(r) · Yₗᵐ(r̂)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φₙ: bases radiales gaussianas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Yₗᵐ: armónicos esféricos reales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3. Power Spectrum (invariante rotacional):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p_{nn'l} = π√(8/2l+1) Σₘ c_{nlm}·c_{n'lm}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4. Normalización: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q̃ = p / ||p||₂  (esfera unitaria)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Dimensión del vector: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 D = (n_max×(n_max+1)/2) × (l_max+1)</a:t>
            </a:r>
          </a:p>
          <a:p>
            <a:pPr algn="l"/>
            <a:r>
              <a:rPr sz="1300" b="0">
                <a:solidFill>
                  <a:srgbClr val="06D6A0"/>
                </a:solidFill>
              </a:rPr>
              <a:t>   Con n_max=9, l_max=9: D = 450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Implementación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CellList.h — Índice espacial O(N)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Lista enlazada de celdas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Stencil 27 celdas para PBC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Consulta vecinos: O(27ρ r_cut³)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RadialBasis.h — φₙ(r)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Centros equidistantes en [0, r_cut]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Pre-calcula 1/(2σ²) → hot path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fcut(r) suave para continuidad C¹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SphericalHarmonics.h — Yₗᵐ(θ,φ)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Recurrencia de Bonnet: O(l_max²)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Recurrencia trig: evita atan2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SOAPDescriptor.h — Orquestador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compute() — un átomo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computeAll() — frame completo</a:t>
            </a:r>
          </a:p>
          <a:p>
            <a:pPr algn="l"/>
            <a:r>
              <a:rPr sz="1300" b="0">
                <a:solidFill>
                  <a:srgbClr val="06D6A0"/>
                </a:solidFill>
              </a:rPr>
              <a:t>  #pragma omp parallel for (OpenMP)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Etapa 3: Clasificación Estadística de Defectos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Construir Referencia q̄(T)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Media de DVs del
frame prístino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65176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80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</a:rPr>
              <a:t>Ajustar Dist. Chi
(k, σ)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Método de
moments → DOF efectivos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65176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Calcular dⁱ = ||q̃ⁱ - q̄(T)||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Distancia euclídea
en esfera unitaria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7373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188720"/>
            <a:ext cx="265176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188720"/>
            <a:ext cx="265176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280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Clasificar Átomo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1031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dⁱ &lt; umbral →
Red cristalina
dⁱ ≥ umbral →
Defecto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83280"/>
            <a:ext cx="11430000" cy="3108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383280"/>
            <a:ext cx="1143000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383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Tipos de Defectos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840480"/>
            <a:ext cx="20116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2011680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Lattice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Red perfecta
dⁱ &lt; umbral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840480"/>
            <a:ext cx="20116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88920" y="3840480"/>
            <a:ext cx="201168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SIA
(Self-Interstitial)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Átomo intersticial
más cerca de DV-SIA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840480"/>
            <a:ext cx="20116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0" y="3840480"/>
            <a:ext cx="201168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VacAdj
(Vacancy-Adjacent)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Átomo vecino a
vacancia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3840480"/>
            <a:ext cx="20116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9480" y="3840480"/>
            <a:ext cx="2011680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Type-A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Defecto descubierto
por PCA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3840480"/>
            <a:ext cx="20116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09760" y="3840480"/>
            <a:ext cx="2011680" cy="365760"/>
          </a:xfrm>
          <a:prstGeom prst="rect">
            <a:avLst/>
          </a:prstGeom>
          <a:solidFill>
            <a:srgbClr val="C8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3840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Unknown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2976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 clasificado
(sin referencia)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166"/>
                </a:solidFill>
              </a:rPr>
              <a:t>Probabilidad de defecto: P_defecto = 1 − P_chi(dⁱ; k, σ)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Etapa 4: Detección de Vacancias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Grid sampling + Greedy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371600" cy="1828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1. Muestreo
de Grilla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Puntos uniformes Δ-espaciados
en toda la caja de simulación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48640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137160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459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2. Campo de
Distancia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146304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Para cada punto: distancia
al átomo más cercano via CellList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39"/>
            <a:ext cx="548640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91839"/>
            <a:ext cx="1371600" cy="1828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49039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3. Puntos
Vacantes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566159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Marcar puntos con
d_near &gt; d_vac (umbral de vacancia)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91839"/>
            <a:ext cx="5486400" cy="1828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91839"/>
            <a:ext cx="1371600" cy="1828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749039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4. Clustering
Greedy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566159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Ordenar por d_near descendente.
Merge r &lt; r_cluster → un cluster = una vacancia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86400"/>
            <a:ext cx="11430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Salida por vacancia: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posición (x, y, z)  ·  d_near_max  ·  n_pts (puntos de grilla en cluster)  →  vacancies_output.csv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Arquitectura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Módulos C++17 — Diseño modular header-only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22529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main.cpp  [Orquestador]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57276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CLI, arg parsing,
pipeline completo,
escritura de salida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18872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64408" y="1188720"/>
            <a:ext cx="27432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2529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LammpsDumpReader  [I/O]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57276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Lectura frame-by-frame
o bulk de archivos dump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18872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188720"/>
            <a:ext cx="274320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22529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AtomData  [Datos]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57276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Atom, SimBox, Frame
(estructuras base)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3144" y="118872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1188720"/>
            <a:ext cx="274320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122529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CellList  [Algoritmos]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157276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Índice espacial O(N)
27-cell stencil PBC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7180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97180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00837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RadialBasis  [SOAP]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" y="335584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Bases radiales
φₙ(r) gaussianas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4408" y="297180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64408" y="2971800"/>
            <a:ext cx="27432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00837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SphericalHarmonics  [SOAP]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35584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Yₗᵐ(θ,φ) vía
recurrencia Bonnet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297180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2971800"/>
            <a:ext cx="274320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300837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SOAPDescriptor  [SOAP]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335584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Power spectrum,
normalización, OpenMP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3144" y="297180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53144" y="2971800"/>
            <a:ext cx="274320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26296" y="300837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Statistics  [Estadística]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296" y="335584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mean, euclidean
chiProbability, fit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5488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4754880"/>
            <a:ext cx="2743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79145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DefectClassifier  [Clasificación]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513892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buildReference,
classify, findVacancies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64408" y="475488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64408" y="4754880"/>
            <a:ext cx="27432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479145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PCA  [Análisis]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513892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fit (covarianza+eigen)
transform (proyección)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8776" y="475488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08776" y="4754880"/>
            <a:ext cx="274320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479145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WignerSeitz  [Validación]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1928" y="513892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Clasificación alternativa
por sitios de referencia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53144" y="4754880"/>
            <a:ext cx="2743200" cy="1600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53144" y="4754880"/>
            <a:ext cx="274320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26296" y="4791456"/>
            <a:ext cx="2596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Scripts Python  [Visualización]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26296" y="5138928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graficar_output.py
graficar_pca.py
visualizer.py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Configuración y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Todos los parámetros son argumentos de línea de comandos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143000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./distool --n-max 9 --l-max 9 --r-cut 5.5 --threshold 0.15 --grid-spacing 0.2 --vac-cluster-radius 3.0 --pca 2 --hist  pristine_Fe_300K.dump  damaged_Fe_10keV.dump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2743200" cy="4663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27432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385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SOAP Descriptores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--n-max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Bases radiales (def: 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01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--l-max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307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Momento angular máx (def: 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074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--r-cut 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365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Radio de corte [Å] (def: 5.0)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13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--sigma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424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Ancho gaussiano [Å] (def: auto)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1920240"/>
            <a:ext cx="2743200" cy="4663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0128" y="1920240"/>
            <a:ext cx="274320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19385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Clasificación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1568" y="237744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23957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--threshold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Umbral dist. defecto (def: 0.15)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338328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8" y="3401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--ref-sia 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47288" y="37307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DV referencia SIA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438912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288" y="44074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--ref-antv 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7288" y="47365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DV referencia VacAdj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01568" y="539496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47288" y="5413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--save-dv ID 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57424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Guardar DV de átomo 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1920240"/>
            <a:ext cx="2743200" cy="4663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4496" y="1920240"/>
            <a:ext cx="274320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0216" y="19385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Vacancias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45936" y="237744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1656" y="23957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--vac-dist 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Dist. punto vacante [Å]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338328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3401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--grid-spacing 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1656" y="37307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Espaciado grilla [Å] (def: 0.5)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45936" y="438912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91656" y="44074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--vac-cluster-r 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91656" y="47365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Radio merge vacancia [Å]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98864" y="1920240"/>
            <a:ext cx="2743200" cy="4663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98864" y="1920240"/>
            <a:ext cx="274320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44584" y="19385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Análisis / Salida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0304" y="237744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36024" y="23957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--pca [N]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36024" y="272491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PCA con N componentes (def: 2)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90304" y="338328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36024" y="340156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--hist [B]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36024" y="373075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Histograma distancias (def: 50)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0304" y="438912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36024" y="44074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--ws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36024" y="473659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Wigner-Seitz paralelo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90304" y="5394960"/>
            <a:ext cx="2560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36024" y="541324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--output 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36024" y="57424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Nombre CSV de salida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Rendimiento y Escalabilidad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24688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Métricas de Rendimiento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~500 ms / 10k átomos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con n_max=9, l_max=9, r_cut=5 Å + OpenMP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~7 GB RAM / 10k átomos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para matriz de descriptores (450 componentes)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CellList: O(N) build, O(27ρ) query</a:t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Algoritmo de vacancias: O(N_grid × 27ρ)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5303520" cy="2743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530352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Complejidades Algorítmicas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Construcción CellList: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O(N) — lineal en número de átomos</a:t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SOAP por átomo: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O(27ρ × n_max² × l_max²) — constante</a:t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SOAP frame completo: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O(N) con paralelismo OpenMP</a:t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Detección vacancias: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O(N_grid) — depende de grid_spacing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576072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97280"/>
            <a:ext cx="5760720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09728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Seguridad y Robustez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0020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Pre-vuelo de memoria: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Lee /proc/meminfo al inicio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Alerta si descriptores &gt; 75% RAM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Sugiere n_max menor para 50% RAM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Previene crashes OOM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Validación de grilla de vacancias: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Aborta si &gt; 200M puntos de grilla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Sugiere espaciado mínimo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Previene agotamiento de RAM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Optimizaciones hot-path: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1/(2σ²) pre-calculado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Recurrencia trig (sin atan2)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Normalización en esfera unitaria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• NATIVE_MARCH para binarios nativos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D166"/>
                </a:solidFill>
              </a:rPr>
              <a:t>Suite de Tests: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test_statistics, test_descriptors,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test_classifier, test_pca,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test_reader, test_wigner_seitz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Flujo de Trabajo en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6E5"/>
                </a:solidFill>
              </a:rPr>
              <a:t>3 fases de uso recomendadas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5212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56616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070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FASE 1
Descubrimiento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3383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--pca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Ejecutar con el flag --pca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79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832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Visualizar DVs en 2D con graficar_pca.py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06240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2452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Identificar clusters → tipos de defectos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29200"/>
            <a:ext cx="3200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4748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Seleccionar átomos representativos de cada cluster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1188720"/>
            <a:ext cx="3566160" cy="5212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1188720"/>
            <a:ext cx="356616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12070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FASE 2
Construcción
de Referencias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1965960"/>
            <a:ext cx="3383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19933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6B35"/>
                </a:solidFill>
              </a:rPr>
              <a:t>--save-dv ID archivo.dv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16552" y="2560320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2560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5786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Usar --save-dv para extraer DV de átomos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16552" y="3383279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33832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34015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identificados en la fase de descubrimiento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16552" y="4206240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16552" y="4206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422452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Repetir para SIA, VacAdj y otros tipos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16552" y="5029200"/>
            <a:ext cx="32004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5029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504748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Construir librería de referencias del material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93024" y="1188720"/>
            <a:ext cx="3566160" cy="52120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1188720"/>
            <a:ext cx="356616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12070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FASE 3
Producción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1965960"/>
            <a:ext cx="3383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1993392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--ref-sia sia.dv --ref-antv vac.dv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0184" y="2560320"/>
            <a:ext cx="3200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0184" y="2560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41664" y="257860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Clasificar con referencias calibradas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30184" y="3383279"/>
            <a:ext cx="3200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0184" y="33832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41664" y="34015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Estadísticas precisas de tipos de defectos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30184" y="4206240"/>
            <a:ext cx="3200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0184" y="4206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41664" y="422452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Usar --ws para validación independiente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30184" y="5029200"/>
            <a:ext cx="3200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0184" y="5029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41664" y="504748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Exportar a OVITO para visualización 3D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7889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9844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C++17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[Núcleo]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Lenguaje principal. Requiere GCC ≥7 o Clang ≥5. Templates, constexpr, structured bindings.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889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9844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Eigen3 ≥3.3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[Álgebra lineal]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659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Header-only. Operaciones matriciales para PCA. SelfAdjointEigenSolver para descomposición.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8872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88720"/>
            <a:ext cx="27889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129844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OpenMP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[Paralelismo]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19659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Opcional. Paraleliza el cálculo de descriptores SOAP por átomo. Flag USE_OPENMP en CMake.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18872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188720"/>
            <a:ext cx="278892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29844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CMake ≥3.14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[Build system]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96596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Release/Debug configs. GNUInstallDirs. AppImage support (NATIVE_MARCH=OFF). Tests integrados.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5760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657600"/>
            <a:ext cx="27889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76732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LAMMPS dump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1605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[Formato de datos]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43484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Formato de entrada estándar en MD. Frame-by-frame o bulk. PBC periódicas soportadas.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657600"/>
            <a:ext cx="278892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76732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Python + Plotly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1605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[Visualización]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43484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Scripts: graficar_output.py, graficar_pca.py, publication_charts.py, visualizer.py.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65760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657600"/>
            <a:ext cx="27889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376732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OVITO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41605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[Visualización 3D]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443484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Archivo analyzed.dump compatible con OVITO para inspección visual 3D de defectos.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3657600"/>
            <a:ext cx="278892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3657600"/>
            <a:ext cx="2788920" cy="7315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76732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</a:rPr>
              <a:t>Linux Desktop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1605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6E5"/>
                </a:solidFill>
              </a:rPr>
              <a:t>[Integración]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434840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.desktop + ícono .png. FreeDesktop spec. Soporte AppImage para distribución portable.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Conclusiones y Contribuciones Clave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Innovación Científica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✓ Robustez térmica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Los descriptores SOAP son estables a
  temperaturas elevadas — sin posiciones
  de referencia de red necesarias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✓ Modelo probabilístico fundamentado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Distribución chi → umbral estadístico
  con base matemática sólida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✓ Detección geométrica de vacancias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Grid sampling → detecta voids
  extendidos y regiones crowdion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06D6A0"/>
                </a:solidFill>
              </a:rPr>
              <a:t>✓ Validación cruzada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Wigner-Seitz opcional como
  método independiente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97280"/>
            <a:ext cx="5760720" cy="5303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576072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Calidad del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✓ Arquitectura modular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Headers separados por responsabilidad,
  sin dependencias circulares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✓ Alto rendimiento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O(N) via CellList + OpenMP
  Pre-computos en hot path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✓ Manejo de memoria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Pre-flight check /proc/meminfo
  Validación tamaño de grilla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✓ Suite de tests completa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6 archivos de tests unitarios
  Integrados en CMake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6B35"/>
                </a:solidFill>
              </a:rPr>
              <a:t>✓ Reproducibilidad</a:t>
            </a:r>
          </a:p>
          <a:p>
            <a:pPr algn="l"/>
            <a:r>
              <a:rPr sz="1300" b="0">
                <a:solidFill>
                  <a:srgbClr val="C8D6E5"/>
                </a:solidFill>
              </a:rPr>
              <a:t>  CLI-only: cada análisis es
  100% reproducible y scriptable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